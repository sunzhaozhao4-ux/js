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  <p:sldId id="302" r:id="rId5"/>
    <p:sldId id="304" r:id="rId6"/>
    <p:sldId id="305" r:id="rId7"/>
    <p:sldId id="306" r:id="rId8"/>
    <p:sldId id="307" r:id="rId9"/>
    <p:sldId id="308" r:id="rId10"/>
    <p:sldId id="309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加载数据：</a:t>
            </a:r>
            <a:r>
              <a:rPr lang="zh-CN" altLang="en-US"/>
              <a:t>共发生了多少次转移；</a:t>
            </a:r>
            <a:endParaRPr lang="zh-CN" altLang="en-US"/>
          </a:p>
          <a:p>
            <a:r>
              <a:rPr lang="zh-CN" altLang="en-US"/>
              <a:t>核心校验逻辑：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" y="4438015"/>
            <a:ext cx="11833225" cy="5778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224020" y="2061210"/>
            <a:ext cx="3002280" cy="23082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采样时间有多少落在各 </a:t>
            </a:r>
            <a:r>
              <a:rPr lang="en-US" altLang="zh-CN"/>
              <a:t>BytecodeHandler</a:t>
            </a:r>
            <a:endParaRPr lang="en-US" altLang="zh-CN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279781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lang="en-US" sz="2700" b="1">
                <a:solidFill>
                  <a:srgbClr val="111111"/>
                </a:solidFill>
              </a:rPr>
              <a:t>STEP 0  </a:t>
            </a:r>
            <a:r>
              <a:rPr lang="zh-CN" altLang="en-US" sz="2700" b="1">
                <a:solidFill>
                  <a:srgbClr val="111111"/>
                </a:solidFill>
              </a:rPr>
              <a:t>实验</a:t>
            </a:r>
            <a:r>
              <a:rPr lang="zh-CN" altLang="en-US" sz="2700" b="1">
                <a:solidFill>
                  <a:srgbClr val="111111"/>
                </a:solidFill>
              </a:rPr>
              <a:t>设计</a:t>
            </a:r>
            <a:endParaRPr lang="zh-CN" altLang="en-US" sz="2700" b="1">
              <a:solidFill>
                <a:srgbClr val="111111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3570" y="6453505"/>
            <a:ext cx="109728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10" name="矩形 9"/>
          <p:cNvSpPr/>
          <p:nvPr/>
        </p:nvSpPr>
        <p:spPr>
          <a:xfrm>
            <a:off x="119380" y="4797425"/>
            <a:ext cx="3901440" cy="23558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907915" y="2123440"/>
            <a:ext cx="1628775" cy="424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FontTx/>
            </a:pP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严格动态次数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07035" y="2061210"/>
            <a:ext cx="3020060" cy="2308860"/>
            <a:chOff x="1888" y="3813"/>
            <a:chExt cx="4756" cy="3636"/>
          </a:xfrm>
        </p:grpSpPr>
        <p:sp>
          <p:nvSpPr>
            <p:cNvPr id="6" name="文本框 5"/>
            <p:cNvSpPr txBox="1"/>
            <p:nvPr/>
          </p:nvSpPr>
          <p:spPr>
            <a:xfrm>
              <a:off x="1888" y="3813"/>
              <a:ext cx="4757" cy="3636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>
              <a:noAutofit/>
            </a:bodyPr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r>
                <a:rPr lang="zh-CN" altLang="en-US"/>
                <a:t>生成的 </a:t>
              </a:r>
              <a:r>
                <a:rPr lang="en-US" altLang="zh-CN"/>
                <a:t>BytecodeArray </a:t>
              </a:r>
              <a:r>
                <a:rPr lang="zh-CN" altLang="en-US"/>
                <a:t>中每种 </a:t>
              </a:r>
              <a:r>
                <a:rPr lang="en-US" altLang="zh-CN"/>
                <a:t>opcode </a:t>
              </a:r>
              <a:r>
                <a:rPr lang="zh-CN" altLang="en-US"/>
                <a:t>放了多少条</a:t>
              </a:r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797" y="3911"/>
              <a:ext cx="2905" cy="6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静态字节码分布</a:t>
              </a:r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6" y="4607"/>
              <a:ext cx="2322" cy="1738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8616315" y="2047240"/>
            <a:ext cx="3216275" cy="2299400"/>
            <a:chOff x="13002" y="3340"/>
            <a:chExt cx="5065" cy="3283"/>
          </a:xfrm>
        </p:grpSpPr>
        <p:sp>
          <p:nvSpPr>
            <p:cNvPr id="12" name="文本框 11"/>
            <p:cNvSpPr txBox="1"/>
            <p:nvPr/>
          </p:nvSpPr>
          <p:spPr>
            <a:xfrm>
              <a:off x="13002" y="3340"/>
              <a:ext cx="5065" cy="328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>
              <a:noAutofit/>
            </a:bodyPr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en-US" altLang="zh-CN"/>
            </a:p>
            <a:p>
              <a:r>
                <a:rPr lang="en-US" altLang="zh-CN"/>
                <a:t>workload </a:t>
              </a:r>
              <a:r>
                <a:rPr lang="zh-CN" altLang="en-US"/>
                <a:t>运行期间每种 </a:t>
              </a:r>
              <a:r>
                <a:rPr lang="en-US" altLang="zh-CN"/>
                <a:t>opcode </a:t>
              </a:r>
              <a:r>
                <a:rPr lang="zh-CN" altLang="en-US"/>
                <a:t>实际 </a:t>
              </a:r>
              <a:r>
                <a:rPr lang="en-US" altLang="zh-CN"/>
                <a:t>dispatch </a:t>
              </a:r>
              <a:r>
                <a:rPr lang="zh-CN" altLang="en-US"/>
                <a:t>了多少次</a:t>
              </a:r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3682" y="3359"/>
              <a:ext cx="3338" cy="66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zh-CN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字节码时间分布</a:t>
              </a:r>
              <a:endParaRPr lang="zh-CN" altLang="en-US"/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38" y="3926"/>
              <a:ext cx="3445" cy="1729"/>
            </a:xfrm>
            <a:prstGeom prst="rect">
              <a:avLst/>
            </a:prstGeom>
          </p:spPr>
        </p:pic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970" y="2493010"/>
            <a:ext cx="2199640" cy="122174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495550" y="5135245"/>
            <a:ext cx="67259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1. 准备 </a:t>
            </a:r>
            <a:r>
              <a:rPr lang="en-US" altLang="zh-CN"/>
              <a:t>Acorn 8.18.0；</a:t>
            </a:r>
            <a:endParaRPr lang="en-US" altLang="zh-CN"/>
          </a:p>
          <a:p>
            <a:r>
              <a:rPr lang="zh-CN" altLang="en-US"/>
              <a:t>2. 校验 `</a:t>
            </a:r>
            <a:r>
              <a:rPr lang="en-US" altLang="zh-CN"/>
              <a:t>package.json` </a:t>
            </a:r>
            <a:r>
              <a:rPr lang="zh-CN" altLang="en-US"/>
              <a:t>中版本；</a:t>
            </a:r>
            <a:endParaRPr lang="zh-CN" altLang="en-US"/>
          </a:p>
          <a:p>
            <a:r>
              <a:rPr lang="zh-CN" altLang="en-US"/>
              <a:t>3. 准备 </a:t>
            </a:r>
            <a:r>
              <a:rPr lang="en-US" altLang="zh-CN"/>
              <a:t>V8 13.6.233 Debug d8；</a:t>
            </a:r>
            <a:endParaRPr lang="en-US" altLang="zh-CN"/>
          </a:p>
          <a:p>
            <a:r>
              <a:rPr lang="zh-CN" altLang="en-US"/>
              <a:t>4. 将 </a:t>
            </a:r>
            <a:r>
              <a:rPr lang="en-US" altLang="zh-CN"/>
              <a:t>Node、V8、d8、Acorn commit </a:t>
            </a:r>
            <a:r>
              <a:rPr lang="zh-CN" altLang="en-US"/>
              <a:t>写入 `</a:t>
            </a:r>
            <a:r>
              <a:rPr lang="en-US" altLang="zh-CN"/>
              <a:t>metadata.json`。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11225" y="5373370"/>
            <a:ext cx="1405255" cy="765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111111"/>
                </a:solidFill>
                <a:sym typeface="+mn-ea"/>
              </a:rPr>
              <a:t>安装并固定依赖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795" y="1062355"/>
            <a:ext cx="7701915" cy="969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280543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lang="en-US" sz="2700" b="1">
                <a:solidFill>
                  <a:srgbClr val="111111"/>
                </a:solidFill>
              </a:rPr>
              <a:t>STEP 1  </a:t>
            </a:r>
            <a:r>
              <a:rPr lang="zh-CN" altLang="en-US" sz="2700" b="1">
                <a:solidFill>
                  <a:srgbClr val="111111"/>
                </a:solidFill>
              </a:rPr>
              <a:t>环境</a:t>
            </a:r>
            <a:r>
              <a:rPr lang="zh-CN" altLang="en-US" sz="2700" b="1">
                <a:solidFill>
                  <a:srgbClr val="111111"/>
                </a:solidFill>
              </a:rPr>
              <a:t>检查</a:t>
            </a:r>
            <a:endParaRPr lang="zh-CN" altLang="en-US" sz="2700" b="1">
              <a:solidFill>
                <a:srgbClr val="111111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3570" y="6453505"/>
            <a:ext cx="109728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文本框 2"/>
          <p:cNvSpPr txBox="1"/>
          <p:nvPr/>
        </p:nvSpPr>
        <p:spPr>
          <a:xfrm>
            <a:off x="6248400" y="2493010"/>
            <a:ext cx="57486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脚本用 `</a:t>
            </a:r>
            <a:r>
              <a:rPr lang="en-US" altLang="zh-CN"/>
              <a:t>Get-Command` </a:t>
            </a:r>
            <a:r>
              <a:rPr lang="zh-CN" altLang="en-US"/>
              <a:t>查找 </a:t>
            </a:r>
            <a:r>
              <a:rPr lang="en-US" altLang="zh-CN"/>
              <a:t>Node/Python，</a:t>
            </a:r>
            <a:endParaRPr lang="en-US" altLang="zh-CN"/>
          </a:p>
          <a:p>
            <a:r>
              <a:rPr lang="zh-CN" altLang="en-US"/>
              <a:t>用 `</a:t>
            </a:r>
            <a:r>
              <a:rPr lang="en-US" altLang="zh-CN"/>
              <a:t>node -p process.versions.v8` </a:t>
            </a:r>
            <a:r>
              <a:rPr lang="zh-CN" altLang="en-US"/>
              <a:t>记录真正嵌入 </a:t>
            </a:r>
            <a:r>
              <a:rPr lang="en-US" altLang="zh-CN"/>
              <a:t>Node </a:t>
            </a:r>
            <a:r>
              <a:rPr lang="zh-CN" altLang="en-US"/>
              <a:t>的 </a:t>
            </a:r>
            <a:r>
              <a:rPr lang="en-US" altLang="zh-CN"/>
              <a:t>V8 </a:t>
            </a:r>
            <a:r>
              <a:rPr lang="zh-CN" altLang="en-US"/>
              <a:t>版本，并按两个固定 </a:t>
            </a:r>
            <a:r>
              <a:rPr lang="en-US" altLang="zh-CN"/>
              <a:t>ASCII </a:t>
            </a:r>
            <a:r>
              <a:rPr lang="zh-CN" altLang="en-US"/>
              <a:t>路径寻找 </a:t>
            </a:r>
            <a:r>
              <a:rPr lang="en-US" altLang="zh-CN"/>
              <a:t>d8。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279525"/>
            <a:ext cx="5509895" cy="4894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870331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lang="en-US" sz="2700" b="1">
                <a:solidFill>
                  <a:srgbClr val="111111"/>
                </a:solidFill>
              </a:rPr>
              <a:t>STEP 2  </a:t>
            </a:r>
            <a:r>
              <a:rPr lang="zh-CN" altLang="en-US" sz="2700" b="1">
                <a:solidFill>
                  <a:srgbClr val="111111"/>
                </a:solidFill>
              </a:rPr>
              <a:t>语义验证</a:t>
            </a:r>
            <a:r>
              <a:rPr lang="en-US" altLang="zh-CN" sz="2700" b="1">
                <a:solidFill>
                  <a:srgbClr val="111111"/>
                </a:solidFill>
              </a:rPr>
              <a:t>——</a:t>
            </a:r>
            <a:r>
              <a:rPr lang="zh-CN" altLang="en-US" sz="2700" b="1">
                <a:solidFill>
                  <a:srgbClr val="111111"/>
                </a:solidFill>
              </a:rPr>
              <a:t>证明两组执行的是同一个程序</a:t>
            </a:r>
            <a:endParaRPr lang="zh-CN" altLang="en-US" sz="2700" b="1">
              <a:solidFill>
                <a:srgbClr val="111111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3570" y="6453505"/>
            <a:ext cx="109728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文本框 2"/>
          <p:cNvSpPr txBox="1"/>
          <p:nvPr/>
        </p:nvSpPr>
        <p:spPr>
          <a:xfrm>
            <a:off x="7484745" y="1557020"/>
            <a:ext cx="45332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 正常 </a:t>
            </a:r>
            <a:r>
              <a:rPr lang="en-US" altLang="zh-CN"/>
              <a:t>JIT </a:t>
            </a:r>
            <a:r>
              <a:rPr lang="zh-CN" altLang="en-US"/>
              <a:t>解析同一份约 40 </a:t>
            </a:r>
            <a:r>
              <a:rPr lang="en-US" altLang="zh-CN"/>
              <a:t>KB </a:t>
            </a:r>
            <a:r>
              <a:rPr lang="zh-CN" altLang="en-US"/>
              <a:t>的生成源码；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 `--jitless` </a:t>
            </a:r>
            <a:r>
              <a:rPr lang="zh-CN" altLang="en-US"/>
              <a:t>解析完全相同的源码；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 control </a:t>
            </a:r>
            <a:r>
              <a:rPr lang="zh-CN" altLang="en-US"/>
              <a:t>生成同一源码、运行相同外层循环</a:t>
            </a:r>
            <a:r>
              <a:rPr lang="en-US" altLang="zh-CN"/>
              <a:t>；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 比较 `</a:t>
            </a:r>
            <a:r>
              <a:rPr lang="en-US" altLang="zh-CN"/>
              <a:t>checksum`、`node_count`、`source_bytes`。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" y="1557020"/>
            <a:ext cx="7045325" cy="41922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65390" y="4220845"/>
            <a:ext cx="448691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JIT </a:t>
            </a:r>
            <a:r>
              <a:rPr lang="zh-CN" altLang="en-US"/>
              <a:t>和 </a:t>
            </a:r>
            <a:r>
              <a:rPr lang="en-US" altLang="zh-CN"/>
              <a:t>jitless </a:t>
            </a:r>
            <a:r>
              <a:rPr lang="zh-CN" altLang="en-US"/>
              <a:t>的 </a:t>
            </a:r>
            <a:r>
              <a:rPr lang="en-US" altLang="zh-CN"/>
              <a:t>checksum/node_count </a:t>
            </a:r>
            <a:r>
              <a:rPr lang="zh-CN" altLang="en-US"/>
              <a:t>完全一致，说明它们改变的是 </a:t>
            </a:r>
            <a:r>
              <a:rPr lang="en-US" altLang="zh-CN"/>
              <a:t>V8 </a:t>
            </a:r>
            <a:r>
              <a:rPr lang="zh-CN" altLang="en-US"/>
              <a:t>执行策略。</a:t>
            </a:r>
            <a:endParaRPr lang="zh-CN" altLang="en-US"/>
          </a:p>
          <a:p>
            <a:r>
              <a:rPr lang="en-US" altLang="zh-CN"/>
              <a:t>control </a:t>
            </a:r>
            <a:r>
              <a:rPr lang="zh-CN" altLang="en-US"/>
              <a:t>的 `</a:t>
            </a:r>
            <a:r>
              <a:rPr lang="en-US" altLang="zh-CN"/>
              <a:t>node_count=0`，</a:t>
            </a:r>
            <a:r>
              <a:rPr lang="zh-CN" altLang="en-US"/>
              <a:t>证明它没有偷偷执行解析器；</a:t>
            </a:r>
            <a:endParaRPr lang="zh-CN" altLang="en-US"/>
          </a:p>
          <a:p>
            <a:r>
              <a:rPr lang="zh-CN" altLang="en-US"/>
              <a:t>它用于判断外层循环和计时器本身是否过重。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684657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lang="en-US" sz="2700" b="1">
                <a:solidFill>
                  <a:srgbClr val="111111"/>
                </a:solidFill>
              </a:rPr>
              <a:t>STEP 3  </a:t>
            </a:r>
            <a:r>
              <a:rPr lang="zh-CN" altLang="en-US" sz="2700" b="1">
                <a:solidFill>
                  <a:srgbClr val="111111"/>
                </a:solidFill>
              </a:rPr>
              <a:t>测正常 </a:t>
            </a:r>
            <a:r>
              <a:rPr lang="en-US" altLang="zh-CN" sz="2700" b="1">
                <a:solidFill>
                  <a:srgbClr val="111111"/>
                </a:solidFill>
              </a:rPr>
              <a:t>JIT </a:t>
            </a:r>
            <a:r>
              <a:rPr lang="zh-CN" altLang="en-US" sz="2700" b="1">
                <a:solidFill>
                  <a:srgbClr val="111111"/>
                </a:solidFill>
              </a:rPr>
              <a:t>与 </a:t>
            </a:r>
            <a:r>
              <a:rPr lang="en-US" altLang="zh-CN" sz="2700" b="1">
                <a:solidFill>
                  <a:srgbClr val="111111"/>
                </a:solidFill>
              </a:rPr>
              <a:t>jitless </a:t>
            </a:r>
            <a:r>
              <a:rPr lang="zh-CN" altLang="en-US" sz="2700" b="1">
                <a:solidFill>
                  <a:srgbClr val="111111"/>
                </a:solidFill>
              </a:rPr>
              <a:t>的端到端性能</a:t>
            </a:r>
            <a:endParaRPr lang="zh-CN" altLang="en-US" sz="2700" b="1">
              <a:solidFill>
                <a:srgbClr val="111111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3570" y="6453505"/>
            <a:ext cx="109728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文本框 2"/>
          <p:cNvSpPr txBox="1"/>
          <p:nvPr/>
        </p:nvSpPr>
        <p:spPr>
          <a:xfrm>
            <a:off x="6888480" y="1268730"/>
            <a:ext cx="48850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每次测试启动独立 </a:t>
            </a:r>
            <a:r>
              <a:rPr lang="en-US" altLang="zh-CN"/>
              <a:t>Node </a:t>
            </a:r>
            <a:r>
              <a:rPr lang="zh-CN" altLang="en-US"/>
              <a:t>进程，异步读取 </a:t>
            </a:r>
            <a:r>
              <a:rPr lang="en-US" altLang="zh-CN"/>
              <a:t>stdout/stderr，</a:t>
            </a:r>
            <a:r>
              <a:rPr lang="zh-CN" altLang="en-US"/>
              <a:t>防止管道阻塞；同时记录：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 `internal_elapsed_ms`：</a:t>
            </a:r>
            <a:r>
              <a:rPr lang="zh-CN" altLang="en-US"/>
              <a:t>只包围解析和 </a:t>
            </a:r>
            <a:r>
              <a:rPr lang="en-US" altLang="zh-CN"/>
              <a:t>AST </a:t>
            </a:r>
            <a:r>
              <a:rPr lang="zh-CN" altLang="en-US"/>
              <a:t>遍历；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 `process_wall_ms`：</a:t>
            </a:r>
            <a:r>
              <a:rPr lang="zh-CN" altLang="en-US"/>
              <a:t>包含 </a:t>
            </a:r>
            <a:r>
              <a:rPr lang="en-US" altLang="zh-CN"/>
              <a:t>Node </a:t>
            </a:r>
            <a:r>
              <a:rPr lang="zh-CN" altLang="en-US"/>
              <a:t>启停；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 `process_cpu_ms`：</a:t>
            </a:r>
            <a:r>
              <a:rPr lang="zh-CN" altLang="en-US"/>
              <a:t>进程 </a:t>
            </a:r>
            <a:r>
              <a:rPr lang="en-US" altLang="zh-CN"/>
              <a:t>CPU </a:t>
            </a:r>
            <a:r>
              <a:rPr lang="zh-CN" altLang="en-US"/>
              <a:t>时间；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 checksum：</a:t>
            </a:r>
            <a:r>
              <a:rPr lang="zh-CN" altLang="en-US"/>
              <a:t>防止优化或脚本错误改变结果。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每组保留所有重复结果到 `</a:t>
            </a:r>
            <a:r>
              <a:rPr lang="en-US" altLang="zh-CN"/>
              <a:t>timing-runs.csv`，</a:t>
            </a:r>
            <a:r>
              <a:rPr lang="zh-CN" altLang="en-US"/>
              <a:t>结论使用中位数。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744335" y="4797425"/>
            <a:ext cx="52939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快速跑（5 次解析、3 次重复）：</a:t>
            </a:r>
            <a:r>
              <a:rPr lang="en-US" altLang="zh-CN"/>
              <a:t>JIT 70.380 ms，jitless 264.816 ms，</a:t>
            </a:r>
            <a:r>
              <a:rPr lang="zh-CN" altLang="en-US"/>
              <a:t>慢 3.763×。  </a:t>
            </a:r>
            <a:endParaRPr lang="zh-CN" altLang="en-US"/>
          </a:p>
          <a:p>
            <a:r>
              <a:rPr lang="zh-CN" altLang="en-US"/>
              <a:t>正式跑（80 次解析、7 次重复）：</a:t>
            </a:r>
            <a:r>
              <a:rPr lang="en-US" altLang="zh-CN"/>
              <a:t>JIT 516.602 ms，jitless 3962.189 ms，</a:t>
            </a:r>
            <a:r>
              <a:rPr lang="zh-CN" altLang="en-US"/>
              <a:t>慢 7.670×。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1341120"/>
            <a:ext cx="5770245" cy="23310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" y="3860800"/>
            <a:ext cx="5770245" cy="2342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684657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lang="en-US" sz="2700" b="1">
                <a:solidFill>
                  <a:srgbClr val="111111"/>
                </a:solidFill>
              </a:rPr>
              <a:t>STEP 4  </a:t>
            </a:r>
            <a:r>
              <a:rPr lang="zh-CN" altLang="en-US" sz="2700" b="1">
                <a:solidFill>
                  <a:srgbClr val="111111"/>
                </a:solidFill>
              </a:rPr>
              <a:t>收集静态字节码结构</a:t>
            </a:r>
            <a:endParaRPr lang="zh-CN" altLang="en-US" sz="2700" b="1">
              <a:solidFill>
                <a:srgbClr val="111111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3570" y="6453505"/>
            <a:ext cx="109728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文本框 2"/>
          <p:cNvSpPr txBox="1"/>
          <p:nvPr/>
        </p:nvSpPr>
        <p:spPr>
          <a:xfrm>
            <a:off x="6507480" y="1268730"/>
            <a:ext cx="52660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1. `Resolve-LabD8` </a:t>
            </a:r>
            <a:r>
              <a:rPr lang="zh-CN" altLang="en-US"/>
              <a:t>找到 </a:t>
            </a:r>
            <a:r>
              <a:rPr lang="en-US" altLang="zh-CN"/>
              <a:t>d8；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2. `New-LabStage` </a:t>
            </a:r>
            <a:r>
              <a:rPr lang="zh-CN" altLang="en-US"/>
              <a:t>把 </a:t>
            </a:r>
            <a:r>
              <a:rPr lang="en-US" altLang="zh-CN"/>
              <a:t>workload </a:t>
            </a:r>
            <a:r>
              <a:rPr lang="zh-CN" altLang="en-US"/>
              <a:t>和 </a:t>
            </a:r>
            <a:r>
              <a:rPr lang="en-US" altLang="zh-CN"/>
              <a:t>Acorn </a:t>
            </a:r>
            <a:r>
              <a:rPr lang="zh-CN" altLang="en-US"/>
              <a:t>复制到纯 </a:t>
            </a:r>
            <a:r>
              <a:rPr lang="en-US" altLang="zh-CN"/>
              <a:t>ASCII </a:t>
            </a:r>
            <a:r>
              <a:rPr lang="zh-CN" altLang="en-US"/>
              <a:t>临时目录；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3. d8 </a:t>
            </a:r>
            <a:r>
              <a:rPr lang="zh-CN" altLang="en-US"/>
              <a:t>使用 `--</a:t>
            </a:r>
            <a:r>
              <a:rPr lang="en-US" altLang="zh-CN"/>
              <a:t>print-bytecode --print-bytecode-filter=*`；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4. stdout </a:t>
            </a:r>
            <a:r>
              <a:rPr lang="zh-CN" altLang="en-US"/>
              <a:t>保存为 `</a:t>
            </a:r>
            <a:r>
              <a:rPr lang="en-US" altLang="zh-CN"/>
              <a:t>bytecode-static.raw.txt`；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5. `analyze.py bytecode` </a:t>
            </a:r>
            <a:r>
              <a:rPr lang="zh-CN" altLang="en-US"/>
              <a:t>将原始文本解析成 </a:t>
            </a:r>
            <a:r>
              <a:rPr lang="en-US" altLang="zh-CN"/>
              <a:t>JSON/CSV；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6. `finally` </a:t>
            </a:r>
            <a:r>
              <a:rPr lang="zh-CN" altLang="en-US"/>
              <a:t>删除临时副本，不删除结果目录。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052830"/>
            <a:ext cx="5605145" cy="5311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684657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lang="en-US" sz="2700" b="1">
                <a:solidFill>
                  <a:srgbClr val="111111"/>
                </a:solidFill>
              </a:rPr>
              <a:t>STEP 5  </a:t>
            </a:r>
            <a:r>
              <a:rPr lang="zh-CN" altLang="en-US" sz="2700" b="1">
                <a:solidFill>
                  <a:srgbClr val="111111"/>
                </a:solidFill>
              </a:rPr>
              <a:t>采集每 </a:t>
            </a:r>
            <a:r>
              <a:rPr lang="en-US" altLang="zh-CN" sz="2700" b="1">
                <a:solidFill>
                  <a:srgbClr val="111111"/>
                </a:solidFill>
              </a:rPr>
              <a:t>opcode </a:t>
            </a:r>
            <a:r>
              <a:rPr lang="zh-CN" altLang="en-US" sz="2700" b="1">
                <a:solidFill>
                  <a:srgbClr val="111111"/>
                </a:solidFill>
              </a:rPr>
              <a:t>时间</a:t>
            </a:r>
            <a:endParaRPr lang="zh-CN" altLang="en-US" sz="2700" b="1">
              <a:solidFill>
                <a:srgbClr val="111111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3570" y="6453505"/>
            <a:ext cx="109728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文本框 2"/>
          <p:cNvSpPr txBox="1"/>
          <p:nvPr/>
        </p:nvSpPr>
        <p:spPr>
          <a:xfrm>
            <a:off x="6507480" y="1268730"/>
            <a:ext cx="526605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1. 正常 </a:t>
            </a:r>
            <a:r>
              <a:rPr lang="en-US" altLang="zh-CN"/>
              <a:t>JIT </a:t>
            </a:r>
            <a:r>
              <a:rPr lang="zh-CN" altLang="en-US"/>
              <a:t>和 </a:t>
            </a:r>
            <a:r>
              <a:rPr lang="en-US" altLang="zh-CN"/>
              <a:t>jitless </a:t>
            </a:r>
            <a:r>
              <a:rPr lang="zh-CN" altLang="en-US"/>
              <a:t>分别运行 </a:t>
            </a:r>
            <a:r>
              <a:rPr lang="en-US" altLang="zh-CN"/>
              <a:t>d8 `--prof`；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2. 原始日志的 `</a:t>
            </a:r>
            <a:r>
              <a:rPr lang="en-US" altLang="zh-CN"/>
              <a:t>code-creation` </a:t>
            </a:r>
            <a:r>
              <a:rPr lang="zh-CN" altLang="en-US"/>
              <a:t>记录给出 </a:t>
            </a:r>
            <a:r>
              <a:rPr lang="en-US" altLang="zh-CN"/>
              <a:t>JIT </a:t>
            </a:r>
            <a:r>
              <a:rPr lang="zh-CN" altLang="en-US"/>
              <a:t>代码、</a:t>
            </a:r>
            <a:r>
              <a:rPr lang="en-US" altLang="zh-CN"/>
              <a:t>Builtin </a:t>
            </a:r>
            <a:r>
              <a:rPr lang="zh-CN" altLang="en-US"/>
              <a:t>和 </a:t>
            </a:r>
            <a:r>
              <a:rPr lang="en-US" altLang="zh-CN"/>
              <a:t>BytecodeHandler </a:t>
            </a:r>
            <a:r>
              <a:rPr lang="zh-CN" altLang="en-US"/>
              <a:t>地址范围；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3. 将每个 `</a:t>
            </a:r>
            <a:r>
              <a:rPr lang="en-US" altLang="zh-CN"/>
              <a:t>tick` </a:t>
            </a:r>
            <a:r>
              <a:rPr lang="zh-CN" altLang="en-US"/>
              <a:t>的叶节点 </a:t>
            </a:r>
            <a:r>
              <a:rPr lang="en-US" altLang="zh-CN"/>
              <a:t>PC </a:t>
            </a:r>
            <a:r>
              <a:rPr lang="zh-CN" altLang="en-US"/>
              <a:t>映射到这些范围；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4. 计算每个 </a:t>
            </a:r>
            <a:r>
              <a:rPr lang="en-US" altLang="zh-CN"/>
              <a:t>handler </a:t>
            </a:r>
            <a:r>
              <a:rPr lang="zh-CN" altLang="en-US"/>
              <a:t>的样本数、估计毫秒、占全部样本和占直接 </a:t>
            </a:r>
            <a:r>
              <a:rPr lang="en-US" altLang="zh-CN"/>
              <a:t>JS </a:t>
            </a:r>
            <a:r>
              <a:rPr lang="zh-CN" altLang="en-US"/>
              <a:t>样本比例；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5. 输出近似 95% 相对误差，提醒低样本结论不稳定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20" y="1196975"/>
            <a:ext cx="6157595" cy="9810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2421255"/>
            <a:ext cx="2804795" cy="34213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395" y="2627630"/>
            <a:ext cx="2368550" cy="30086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431280" y="4365625"/>
            <a:ext cx="51650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正常模式的解释器预热窗口相对很短，低频 </a:t>
            </a:r>
            <a:r>
              <a:rPr lang="en-US" altLang="zh-CN"/>
              <a:t>Windows </a:t>
            </a:r>
            <a:r>
              <a:rPr lang="zh-CN" altLang="en-US"/>
              <a:t>采样点可能全部错过这一窗口；热点提升后 </a:t>
            </a:r>
            <a:r>
              <a:rPr lang="en-US" altLang="zh-CN"/>
              <a:t>PC </a:t>
            </a:r>
            <a:r>
              <a:rPr lang="zh-CN" altLang="en-US"/>
              <a:t>落在 </a:t>
            </a:r>
            <a:r>
              <a:rPr lang="en-US" altLang="zh-CN"/>
              <a:t>JIT JS、Builtin </a:t>
            </a:r>
            <a:r>
              <a:rPr lang="zh-CN" altLang="en-US"/>
              <a:t>或 </a:t>
            </a:r>
            <a:r>
              <a:rPr lang="en-US" altLang="zh-CN"/>
              <a:t>native </a:t>
            </a:r>
            <a:r>
              <a:rPr lang="zh-CN" altLang="en-US"/>
              <a:t>代码。`</a:t>
            </a:r>
            <a:r>
              <a:rPr lang="en-US" altLang="zh-CN"/>
              <a:t>handler_samples=0` </a:t>
            </a:r>
            <a:r>
              <a:rPr lang="zh-CN" altLang="en-US"/>
              <a:t>只表示“本次样本没有命中”，不表示“没有执行过字节码”。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52450"/>
            <a:ext cx="684657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lang="en-US" sz="2700" b="1">
                <a:solidFill>
                  <a:srgbClr val="111111"/>
                </a:solidFill>
              </a:rPr>
              <a:t>STEP 6  </a:t>
            </a:r>
            <a:r>
              <a:rPr lang="zh-CN" altLang="en-US" sz="2700" b="1">
                <a:solidFill>
                  <a:srgbClr val="111111"/>
                </a:solidFill>
              </a:rPr>
              <a:t>采集动态次数</a:t>
            </a:r>
            <a:endParaRPr lang="zh-CN" altLang="en-US" sz="2700" b="1">
              <a:solidFill>
                <a:srgbClr val="111111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23570" y="6453505"/>
            <a:ext cx="109728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" name="文本框 2"/>
          <p:cNvSpPr txBox="1"/>
          <p:nvPr/>
        </p:nvSpPr>
        <p:spPr>
          <a:xfrm>
            <a:off x="4655820" y="548640"/>
            <a:ext cx="7068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V8 </a:t>
            </a:r>
            <a:r>
              <a:rPr lang="zh-CN" altLang="en-US"/>
              <a:t>官方发布的 </a:t>
            </a:r>
            <a:r>
              <a:rPr lang="en-US" altLang="zh-CN"/>
              <a:t>d8 </a:t>
            </a:r>
            <a:r>
              <a:rPr lang="zh-CN" altLang="en-US"/>
              <a:t>默认关闭了计数功能（这是个巨大的性能开销）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如果强行用官方的参数开启，它会直接报错退出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91810" y="2732405"/>
            <a:ext cx="6478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必须是 </a:t>
            </a:r>
            <a:r>
              <a:rPr lang="en-US" altLang="zh-CN"/>
              <a:t>workload </a:t>
            </a:r>
            <a:r>
              <a:rPr lang="zh-CN" altLang="en-US"/>
              <a:t>前后各读一次计数器。解析器做 `</a:t>
            </a:r>
            <a:r>
              <a:rPr lang="en-US" altLang="zh-CN"/>
              <a:t>after-before`，</a:t>
            </a:r>
            <a:r>
              <a:rPr lang="zh-CN" altLang="en-US"/>
              <a:t>从而排除加载 </a:t>
            </a:r>
            <a:r>
              <a:rPr lang="en-US" altLang="zh-CN"/>
              <a:t>Acorn </a:t>
            </a:r>
            <a:r>
              <a:rPr lang="zh-CN" altLang="en-US"/>
              <a:t>和启动 </a:t>
            </a:r>
            <a:r>
              <a:rPr lang="en-US" altLang="zh-CN"/>
              <a:t>d8 </a:t>
            </a:r>
            <a:r>
              <a:rPr lang="zh-CN" altLang="en-US"/>
              <a:t>已产生的 </a:t>
            </a:r>
            <a:r>
              <a:rPr lang="en-US" altLang="zh-CN"/>
              <a:t>dispatch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63525" y="1845310"/>
            <a:ext cx="476821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在 </a:t>
            </a:r>
            <a:r>
              <a:rPr lang="en-US" altLang="zh-CN"/>
              <a:t>Ubuntu/WSL </a:t>
            </a:r>
            <a:r>
              <a:rPr lang="zh-CN" altLang="en-US"/>
              <a:t>中：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运行构建脚本（</a:t>
            </a:r>
            <a:r>
              <a:rPr lang="en-US" altLang="zh-CN"/>
              <a:t>build_v8_counting_ubuntu.sh）</a:t>
            </a:r>
            <a:endParaRPr lang="en-US" altLang="zh-CN"/>
          </a:p>
          <a:p>
            <a:r>
              <a:rPr lang="zh-CN" altLang="en-US"/>
              <a:t>和运行脚本（</a:t>
            </a:r>
            <a:r>
              <a:rPr lang="en-US" altLang="zh-CN"/>
              <a:t>run_counting_ubuntu.sh），</a:t>
            </a:r>
            <a:endParaRPr lang="en-US" altLang="zh-CN"/>
          </a:p>
          <a:p>
            <a:r>
              <a:rPr lang="zh-CN" altLang="en-US"/>
              <a:t>传入输出目录和迭代次数（20）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9795" y="1557020"/>
            <a:ext cx="5802630" cy="11753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063750" y="4653280"/>
            <a:ext cx="79590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计数操作本身藏在 </a:t>
            </a:r>
            <a:r>
              <a:rPr lang="en-US" altLang="zh-CN"/>
              <a:t>V8 </a:t>
            </a:r>
            <a:r>
              <a:rPr lang="zh-CN" altLang="en-US"/>
              <a:t>源码的 </a:t>
            </a:r>
            <a:r>
              <a:rPr lang="en-US" altLang="zh-CN"/>
              <a:t>src/interpreter/interpreter.cc </a:t>
            </a:r>
            <a:r>
              <a:rPr lang="zh-CN" altLang="en-US"/>
              <a:t>文件中，被一个宏（</a:t>
            </a:r>
            <a:r>
              <a:rPr lang="en-US" altLang="zh-CN"/>
              <a:t>V8_ENABLE_IGNITION_DISPATCH_COUNTING）</a:t>
            </a:r>
            <a:r>
              <a:rPr lang="zh-CN" altLang="en-US"/>
              <a:t>包裹着。只要编译时定义了这个宏，</a:t>
            </a:r>
            <a:r>
              <a:rPr lang="en-US" altLang="zh-CN"/>
              <a:t>V8 </a:t>
            </a:r>
            <a:r>
              <a:rPr lang="zh-CN" altLang="en-US"/>
              <a:t>每执行一条字节码，就会自动执行 </a:t>
            </a:r>
            <a:r>
              <a:rPr lang="en-US" altLang="zh-CN"/>
              <a:t>counters_[from][to]++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15" y="5733415"/>
            <a:ext cx="972312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332740"/>
            <a:ext cx="10309860" cy="27641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05" y="3314700"/>
            <a:ext cx="3077845" cy="30581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145" y="3285490"/>
            <a:ext cx="3116580" cy="30873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624060" y="4374515"/>
            <a:ext cx="2588895" cy="79502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JIT </a:t>
            </a:r>
            <a:r>
              <a:rPr lang="zh-CN" altLang="en-US" sz="16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把这些频繁执行的字节码转移编译成机器码</a:t>
            </a:r>
            <a:endParaRPr lang="zh-CN" altLang="en-US" sz="16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73885" y="3429000"/>
            <a:ext cx="3308985" cy="25336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847215" y="3933190"/>
            <a:ext cx="3303270" cy="762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847215" y="4509135"/>
            <a:ext cx="3303270" cy="1193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847215" y="5074285"/>
            <a:ext cx="3407410" cy="9525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094730" y="3429000"/>
            <a:ext cx="3407410" cy="58039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2030</Words>
  <Application>WPS 演示</Application>
  <PresentationFormat>Converted Presentation</PresentationFormat>
  <Paragraphs>103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Calibri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孙 ┏ (^ω^)=☞  牛X</cp:lastModifiedBy>
  <cp:revision>15</cp:revision>
  <dcterms:created xsi:type="dcterms:W3CDTF">2026-08-14T09:40:00Z</dcterms:created>
  <dcterms:modified xsi:type="dcterms:W3CDTF">2026-09-01T08:28:01Z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CC30F9753ED1466EB39B26166CC0D09D_13</vt:lpwstr>
  </property>
</Properties>
</file>